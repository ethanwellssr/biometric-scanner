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b78b9d588_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b78b9d588_2_9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b78b9d588_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b78b9d588_2_10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638e36b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638e36b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b78b9d588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b78b9d588_2_1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b78b9d588_2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9b78b9d588_2_10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9b78b9d588_2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9b78b9d588_2_1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b78b9d588_2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9b78b9d588_2_1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9b78b9d588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9b78b9d588_2_1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9b78b9d588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9b78b9d588_2_1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be62c91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be62c91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9b78b9d588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9b78b9d588_2_1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690625" y="1010210"/>
            <a:ext cx="7667244" cy="60512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690625" y="3224772"/>
            <a:ext cx="7667244" cy="60512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690625" y="1113584"/>
            <a:ext cx="7667244" cy="2057400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grpSp>
        <p:nvGrpSpPr>
          <p:cNvPr id="63" name="Google Shape;63;p14"/>
          <p:cNvGrpSpPr/>
          <p:nvPr/>
        </p:nvGrpSpPr>
        <p:grpSpPr>
          <a:xfrm>
            <a:off x="7236911" y="3051692"/>
            <a:ext cx="810678" cy="810676"/>
            <a:chOff x="9685338" y="4460675"/>
            <a:chExt cx="1080904" cy="1080902"/>
          </a:xfrm>
        </p:grpSpPr>
        <p:sp>
          <p:nvSpPr>
            <p:cNvPr id="64" name="Google Shape;64;p14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65" name="Google Shape;65;p14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ckwel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6" name="Google Shape;66;p14"/>
          <p:cNvSpPr txBox="1"/>
          <p:nvPr>
            <p:ph type="ctrTitle"/>
          </p:nvPr>
        </p:nvSpPr>
        <p:spPr>
          <a:xfrm>
            <a:off x="788670" y="1074167"/>
            <a:ext cx="7475220" cy="2276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7200"/>
              <a:buFont typeface="Rockwell"/>
              <a:buNone/>
              <a:defRPr sz="7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" type="subTitle"/>
          </p:nvPr>
        </p:nvSpPr>
        <p:spPr>
          <a:xfrm>
            <a:off x="802386" y="3291840"/>
            <a:ext cx="5918454" cy="80238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300"/>
              <a:buNone/>
              <a:defRPr sz="1500"/>
            </a:lvl9pPr>
          </a:lstStyle>
          <a:p/>
        </p:txBody>
      </p:sp>
      <p:sp>
        <p:nvSpPr>
          <p:cNvPr id="68" name="Google Shape;68;p14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4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2" type="sldNum"/>
          </p:nvPr>
        </p:nvSpPr>
        <p:spPr>
          <a:xfrm>
            <a:off x="7194550" y="3217001"/>
            <a:ext cx="8954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▪"/>
              <a:defRPr/>
            </a:lvl9pPr>
          </a:lstStyle>
          <a:p/>
        </p:txBody>
      </p:sp>
      <p:sp>
        <p:nvSpPr>
          <p:cNvPr id="74" name="Google Shape;74;p15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5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0" y="3688492"/>
            <a:ext cx="9144000" cy="1455007"/>
          </a:xfrm>
          <a:prstGeom prst="rect">
            <a:avLst/>
          </a:prstGeom>
          <a:blipFill rotWithShape="1">
            <a:blip r:embed="rId2">
              <a:alphaModFix amt="85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1625346" y="918972"/>
            <a:ext cx="6960870" cy="264033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Rockwell"/>
              <a:buNone/>
              <a:defRPr b="0" sz="60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624330" y="3765042"/>
            <a:ext cx="678942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  <a:defRPr sz="15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9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16"/>
          <p:cNvSpPr txBox="1"/>
          <p:nvPr>
            <p:ph idx="10" type="dt"/>
          </p:nvPr>
        </p:nvSpPr>
        <p:spPr>
          <a:xfrm>
            <a:off x="6445250" y="4704588"/>
            <a:ext cx="1983232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1" type="ftr"/>
          </p:nvPr>
        </p:nvSpPr>
        <p:spPr>
          <a:xfrm>
            <a:off x="1637031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83" name="Google Shape;83;p16"/>
          <p:cNvGrpSpPr/>
          <p:nvPr/>
        </p:nvGrpSpPr>
        <p:grpSpPr>
          <a:xfrm>
            <a:off x="673049" y="1744386"/>
            <a:ext cx="810678" cy="810676"/>
            <a:chOff x="9685338" y="4460675"/>
            <a:chExt cx="1080904" cy="1080902"/>
          </a:xfrm>
        </p:grpSpPr>
        <p:sp>
          <p:nvSpPr>
            <p:cNvPr id="84" name="Google Shape;84;p16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5" name="Google Shape;85;p16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ckwel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632776" y="1879600"/>
            <a:ext cx="891224" cy="54024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buNone/>
              <a:defRPr b="1" i="0" sz="2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802386" y="1645920"/>
            <a:ext cx="356616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▪"/>
              <a:defRPr sz="1400"/>
            </a:lvl9pPr>
          </a:lstStyle>
          <a:p/>
        </p:txBody>
      </p:sp>
      <p:sp>
        <p:nvSpPr>
          <p:cNvPr id="90" name="Google Shape;90;p17"/>
          <p:cNvSpPr txBox="1"/>
          <p:nvPr>
            <p:ph idx="2" type="body"/>
          </p:nvPr>
        </p:nvSpPr>
        <p:spPr>
          <a:xfrm>
            <a:off x="4773168" y="1645920"/>
            <a:ext cx="3566160" cy="29832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▪"/>
              <a:defRPr sz="1400"/>
            </a:lvl9pPr>
          </a:lstStyle>
          <a:p/>
        </p:txBody>
      </p:sp>
      <p:sp>
        <p:nvSpPr>
          <p:cNvPr id="91" name="Google Shape;91;p17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800100" y="1536192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  <a:defRPr b="1" sz="15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802386" y="205740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2921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6pPr>
            <a:lvl7pPr indent="-2921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7pPr>
            <a:lvl8pPr indent="-2921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8pPr>
            <a:lvl9pPr indent="-2921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Char char="▪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773168" y="1536192"/>
            <a:ext cx="35661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  <a:defRPr b="1" sz="15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773168" y="2057400"/>
            <a:ext cx="356616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2921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6pPr>
            <a:lvl7pPr indent="-2921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7pPr>
            <a:lvl8pPr indent="-2921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8pPr>
            <a:lvl9pPr indent="-2921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000"/>
              <a:buChar char="▪"/>
              <a:defRPr sz="1200"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8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6227805" y="0"/>
            <a:ext cx="2916194" cy="51434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14" name="Google Shape;114;p21"/>
          <p:cNvSpPr txBox="1"/>
          <p:nvPr>
            <p:ph type="title"/>
          </p:nvPr>
        </p:nvSpPr>
        <p:spPr>
          <a:xfrm>
            <a:off x="6412230" y="514350"/>
            <a:ext cx="24003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ckwell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628650" y="514350"/>
            <a:ext cx="5033772" cy="37650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  <a:defRPr sz="1500"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 sz="1400"/>
            </a:lvl2pPr>
            <a:lvl3pPr indent="-2921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3pPr>
            <a:lvl4pPr indent="-2921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4pPr>
            <a:lvl5pPr indent="-2921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Char char="▪"/>
              <a:defRPr sz="1200"/>
            </a:lvl5pPr>
            <a:lvl6pPr indent="-3111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▪"/>
              <a:defRPr sz="1500"/>
            </a:lvl6pPr>
            <a:lvl7pPr indent="-3111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▪"/>
              <a:defRPr sz="1500"/>
            </a:lvl7pPr>
            <a:lvl8pPr indent="-3111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Char char="▪"/>
              <a:defRPr sz="1500"/>
            </a:lvl8pPr>
            <a:lvl9pPr indent="-3111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300"/>
              <a:buChar char="▪"/>
              <a:defRPr sz="1500"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6412230" y="1817370"/>
            <a:ext cx="24003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600"/>
              <a:buNone/>
              <a:defRPr sz="700"/>
            </a:lvl9pPr>
          </a:lstStyle>
          <a:p/>
        </p:txBody>
      </p:sp>
      <p:sp>
        <p:nvSpPr>
          <p:cNvPr id="117" name="Google Shape;117;p21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19" name="Google Shape;119;p21"/>
          <p:cNvGrpSpPr/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20" name="Google Shape;120;p21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1" name="Google Shape;121;p21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ckwel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21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/>
          <p:nvPr/>
        </p:nvSpPr>
        <p:spPr>
          <a:xfrm>
            <a:off x="6227805" y="0"/>
            <a:ext cx="2916194" cy="51434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ckwell"/>
              <a:ea typeface="Rockwell"/>
              <a:cs typeface="Rockwell"/>
              <a:sym typeface="Rockwell"/>
            </a:endParaRPr>
          </a:p>
        </p:txBody>
      </p:sp>
      <p:sp>
        <p:nvSpPr>
          <p:cNvPr id="125" name="Google Shape;125;p22"/>
          <p:cNvSpPr txBox="1"/>
          <p:nvPr>
            <p:ph type="title"/>
          </p:nvPr>
        </p:nvSpPr>
        <p:spPr>
          <a:xfrm>
            <a:off x="6412230" y="514350"/>
            <a:ext cx="24003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ckwell"/>
              <a:buNone/>
              <a:defRPr b="1"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2"/>
          <p:cNvSpPr/>
          <p:nvPr>
            <p:ph idx="2" type="pic"/>
          </p:nvPr>
        </p:nvSpPr>
        <p:spPr>
          <a:xfrm>
            <a:off x="0" y="0"/>
            <a:ext cx="6227805" cy="51435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6412230" y="1817370"/>
            <a:ext cx="24003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900"/>
              <a:buNone/>
              <a:defRPr sz="11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8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800"/>
            </a:lvl3pPr>
            <a:lvl4pPr indent="-22860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4pPr>
            <a:lvl5pPr indent="-22860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5pPr>
            <a:lvl6pPr indent="-22860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6pPr>
            <a:lvl7pPr indent="-22860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7pPr>
            <a:lvl8pPr indent="-22860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600"/>
              <a:buNone/>
              <a:defRPr sz="700"/>
            </a:lvl8pPr>
            <a:lvl9pPr indent="-22860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600"/>
              <a:buNone/>
              <a:defRPr sz="700"/>
            </a:lvl9pPr>
          </a:lstStyle>
          <a:p/>
        </p:txBody>
      </p:sp>
      <p:sp>
        <p:nvSpPr>
          <p:cNvPr id="128" name="Google Shape;128;p22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grpSp>
        <p:nvGrpSpPr>
          <p:cNvPr id="129" name="Google Shape;129;p22"/>
          <p:cNvGrpSpPr/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130" name="Google Shape;130;p22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31" name="Google Shape;131;p22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ckwel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 rot="5400000">
            <a:off x="3055239" y="-661797"/>
            <a:ext cx="3038094" cy="75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▪"/>
              <a:defRPr/>
            </a:lvl9pPr>
          </a:lstStyle>
          <a:p/>
        </p:txBody>
      </p:sp>
      <p:sp>
        <p:nvSpPr>
          <p:cNvPr id="136" name="Google Shape;136;p23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7" name="Google Shape;137;p23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 rot="5400000">
            <a:off x="5386388" y="1557338"/>
            <a:ext cx="422910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1" type="body"/>
          </p:nvPr>
        </p:nvSpPr>
        <p:spPr>
          <a:xfrm rot="5400000">
            <a:off x="1500188" y="-300037"/>
            <a:ext cx="4229100" cy="56292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▪"/>
              <a:defRPr/>
            </a:lvl1pPr>
            <a:lvl2pPr indent="-298450" lvl="1" marL="914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2pPr>
            <a:lvl3pPr indent="-298450" lvl="2" marL="1371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3pPr>
            <a:lvl4pPr indent="-298450" lvl="3" marL="1828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4pPr>
            <a:lvl5pPr indent="-298450" lvl="4" marL="2286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5pPr>
            <a:lvl6pPr indent="-298450" lvl="5" marL="2743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6pPr>
            <a:lvl7pPr indent="-298450" lvl="6" marL="3200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7pPr>
            <a:lvl8pPr indent="-298450" lvl="7" marL="3657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▪"/>
              <a:defRPr/>
            </a:lvl8pPr>
            <a:lvl9pPr indent="-298450" lvl="8" marL="411480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SzPts val="1100"/>
              <a:buChar char="▪"/>
              <a:defRPr/>
            </a:lvl9pPr>
          </a:lstStyle>
          <a:p/>
        </p:txBody>
      </p:sp>
      <p:sp>
        <p:nvSpPr>
          <p:cNvPr id="142" name="Google Shape;142;p24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3" name="Google Shape;143;p24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  <a:defRPr b="0" i="0" sz="41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1150" lvl="0" marL="457200" marR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9E3611"/>
              </a:buClr>
              <a:buSzPts val="1300"/>
              <a:buFont typeface="Noto Sans Symbols"/>
              <a:buChar char="▪"/>
              <a:defRPr b="0" i="0" sz="15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298450" lvl="1" marL="914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100"/>
              <a:buFont typeface="Noto Sans Symbols"/>
              <a:buChar char="▪"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292100" lvl="2" marL="1371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292100" lvl="3" marL="18288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292100" lvl="4" marL="22860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292100" lvl="5" marL="27432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292100" lvl="6" marL="32004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292100" lvl="7" marL="3657600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292100" lvl="8" marL="4114800" marR="0" rtl="0" algn="l">
              <a:lnSpc>
                <a:spcPct val="90000"/>
              </a:lnSpc>
              <a:spcBef>
                <a:spcPts val="300"/>
              </a:spcBef>
              <a:spcAft>
                <a:spcPts val="200"/>
              </a:spcAft>
              <a:buClr>
                <a:srgbClr val="9E3611"/>
              </a:buClr>
              <a:buSzPts val="10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973318" y="4704588"/>
            <a:ext cx="2455164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816102" y="4704588"/>
            <a:ext cx="474573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 u="none" cap="none" strike="noStrike">
                <a:solidFill>
                  <a:schemeClr val="dk2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grpSp>
        <p:nvGrpSpPr>
          <p:cNvPr id="55" name="Google Shape;55;p13"/>
          <p:cNvGrpSpPr/>
          <p:nvPr/>
        </p:nvGrpSpPr>
        <p:grpSpPr>
          <a:xfrm>
            <a:off x="8551294" y="4672261"/>
            <a:ext cx="342900" cy="342900"/>
            <a:chOff x="11361456" y="6195813"/>
            <a:chExt cx="548640" cy="548640"/>
          </a:xfrm>
        </p:grpSpPr>
        <p:sp>
          <p:nvSpPr>
            <p:cNvPr id="56" name="Google Shape;56;p13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500"/>
                <a:buFont typeface="Rockwell"/>
                <a:buNone/>
              </a:pPr>
              <a:r>
                <a:t/>
              </a:r>
              <a:endParaRPr b="1" i="0" sz="15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Rockwell"/>
                <a:buNone/>
              </a:pPr>
              <a:r>
                <a:t/>
              </a:r>
              <a:endPara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" name="Google Shape;58;p13"/>
          <p:cNvSpPr txBox="1"/>
          <p:nvPr>
            <p:ph idx="12" type="sldNum"/>
          </p:nvPr>
        </p:nvSpPr>
        <p:spPr>
          <a:xfrm>
            <a:off x="8483346" y="4704588"/>
            <a:ext cx="48006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ctrTitle"/>
          </p:nvPr>
        </p:nvSpPr>
        <p:spPr>
          <a:xfrm>
            <a:off x="788670" y="1074167"/>
            <a:ext cx="7475220" cy="227685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600"/>
              <a:buFont typeface="Rockwell"/>
              <a:buNone/>
            </a:pPr>
            <a:r>
              <a:rPr lang="en" sz="6600"/>
              <a:t>BIOMETRIC LOCKING BOX</a:t>
            </a:r>
            <a:endParaRPr sz="6600"/>
          </a:p>
        </p:txBody>
      </p:sp>
      <p:sp>
        <p:nvSpPr>
          <p:cNvPr id="150" name="Google Shape;150;p25"/>
          <p:cNvSpPr txBox="1"/>
          <p:nvPr>
            <p:ph idx="1" type="subTitle"/>
          </p:nvPr>
        </p:nvSpPr>
        <p:spPr>
          <a:xfrm>
            <a:off x="802386" y="3291839"/>
            <a:ext cx="5918454" cy="96513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Project Proposal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lang="en"/>
              <a:t>Abigail Duran, Ethan Wells, Alexis Perez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400"/>
              <a:buNone/>
            </a:pPr>
            <a:r>
              <a:rPr lang="en"/>
              <a:t>10/22/25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/>
              <a:t>PROBLEM IDENTIFICATION</a:t>
            </a:r>
            <a:endParaRPr/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4605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Traditional safety boxes usually rely on keys or passcodes and can easily be lost, and fingerprint-activated safety boxes are typically overpriced.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This project aims to design a fingerprint-activated safety box that provides cost-efficient, secure, and user-specific access using biometric authentication. 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This project will demonstrate embedded control, sensor integration, and secure storage design.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 REQUIREMENTS</a:t>
            </a:r>
            <a:endParaRPr/>
          </a:p>
        </p:txBody>
      </p:sp>
      <p:sp>
        <p:nvSpPr>
          <p:cNvPr id="162" name="Google Shape;162;p27"/>
          <p:cNvSpPr txBox="1"/>
          <p:nvPr>
            <p:ph idx="1" type="body"/>
          </p:nvPr>
        </p:nvSpPr>
        <p:spPr>
          <a:xfrm>
            <a:off x="802386" y="1591056"/>
            <a:ext cx="7543800" cy="30381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98450" lvl="0" marL="457200" rtl="0" algn="l">
              <a:spcBef>
                <a:spcPts val="900"/>
              </a:spcBef>
              <a:spcAft>
                <a:spcPts val="0"/>
              </a:spcAft>
              <a:buSzPts val="1100"/>
              <a:buChar char="▪"/>
            </a:pPr>
            <a:r>
              <a:rPr lang="en"/>
              <a:t>Easy install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▪"/>
            </a:pPr>
            <a:r>
              <a:rPr lang="en"/>
              <a:t>Low Cost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▪"/>
            </a:pPr>
            <a:r>
              <a:rPr lang="en"/>
              <a:t>Low Power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▪"/>
            </a:pPr>
            <a:r>
              <a:rPr lang="en"/>
              <a:t>Fast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8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/>
              <a:t>ENGINEERING REQUIREMENTS</a:t>
            </a:r>
            <a:endParaRPr/>
          </a:p>
        </p:txBody>
      </p:sp>
      <p:sp>
        <p:nvSpPr>
          <p:cNvPr id="168" name="Google Shape;168;p28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4605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The fingerprint sensor must correctly identify an enrolled user </a:t>
            </a:r>
            <a:r>
              <a:rPr b="1" lang="en"/>
              <a:t>with ≥95% accuracy.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The locking solenoid must respond </a:t>
            </a:r>
            <a:r>
              <a:rPr b="1" lang="en"/>
              <a:t>within 1 seconds</a:t>
            </a:r>
            <a:r>
              <a:rPr lang="en"/>
              <a:t> of fingerprint verification.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The system must be powered by no more than </a:t>
            </a:r>
            <a:r>
              <a:rPr b="1" lang="en"/>
              <a:t>12</a:t>
            </a:r>
            <a:r>
              <a:rPr b="1" lang="en"/>
              <a:t>V dc power.</a:t>
            </a:r>
            <a:endParaRPr b="1"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The system must</a:t>
            </a:r>
            <a:r>
              <a:rPr b="1" lang="en"/>
              <a:t> operate continuously for at least 8 hours.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The box must lock automatically after </a:t>
            </a:r>
            <a:r>
              <a:rPr b="1" lang="en"/>
              <a:t>10 seconds</a:t>
            </a:r>
            <a:r>
              <a:rPr lang="en"/>
              <a:t> of inactivity.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▪"/>
            </a:pPr>
            <a:r>
              <a:rPr lang="en"/>
              <a:t>Must be able to store and check for </a:t>
            </a:r>
            <a:r>
              <a:rPr lang="en"/>
              <a:t>at least</a:t>
            </a:r>
            <a:r>
              <a:rPr lang="en"/>
              <a:t> </a:t>
            </a:r>
            <a:r>
              <a:rPr b="1" lang="en"/>
              <a:t>5 different fingerprints.</a:t>
            </a:r>
            <a:endParaRPr b="1"/>
          </a:p>
          <a:p>
            <a:pPr indent="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/>
              <a:t>HARDWARE </a:t>
            </a:r>
            <a:r>
              <a:rPr lang="en"/>
              <a:t>COMPONENTS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4605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Arduino Uno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Breadboard and jumper wires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Fingerprint sensor module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Locking </a:t>
            </a:r>
            <a:r>
              <a:rPr lang="en"/>
              <a:t>Solenoid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Power supply</a:t>
            </a:r>
            <a:endParaRPr/>
          </a:p>
          <a:p>
            <a:pPr indent="-1333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100"/>
              <a:buChar char="▪"/>
            </a:pPr>
            <a:r>
              <a:rPr lang="en"/>
              <a:t>Relay</a:t>
            </a:r>
            <a:endParaRPr/>
          </a:p>
          <a:p>
            <a:pPr indent="-14605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Box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/>
              <a:t>SOFTWARE</a:t>
            </a:r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4605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Char char="▪"/>
            </a:pPr>
            <a:r>
              <a:rPr lang="en"/>
              <a:t>Arduino IDE</a:t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802375" y="363475"/>
            <a:ext cx="75438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Rockwell"/>
              <a:buNone/>
            </a:pPr>
            <a:r>
              <a:rPr lang="en"/>
              <a:t>QFD CHART</a:t>
            </a:r>
            <a:endParaRPr/>
          </a:p>
        </p:txBody>
      </p:sp>
      <p:pic>
        <p:nvPicPr>
          <p:cNvPr id="186" name="Google Shape;186;p31" title="Screenshot 2025-10-21 at 12.20.40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350" y="877100"/>
            <a:ext cx="5282076" cy="408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802375" y="363474"/>
            <a:ext cx="75438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 sz="2900"/>
              <a:t>FUNCTIONAL DECOMPOSITION DIAGRAM</a:t>
            </a:r>
            <a:endParaRPr sz="2900"/>
          </a:p>
        </p:txBody>
      </p:sp>
      <p:pic>
        <p:nvPicPr>
          <p:cNvPr id="192" name="Google Shape;192;p32" title="Functional Decomp Diagram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0750" y="857250"/>
            <a:ext cx="5502499" cy="4058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/>
              <a:t>TASK LIST</a:t>
            </a:r>
            <a:endParaRPr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802386" y="1591056"/>
            <a:ext cx="7543800" cy="30380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A = Schematic and bill of materials (1 week)</a:t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B = Hardware setup, build prototype </a:t>
            </a:r>
            <a:r>
              <a:rPr lang="en"/>
              <a:t>(1 week)</a:t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C = Software d</a:t>
            </a:r>
            <a:r>
              <a:rPr lang="en"/>
              <a:t>evelopment, integrate fingerprint library, confirm fp identification and accuracy (1 week)</a:t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D = System Integration, add timer to locking solenoid, mount into the enclosure. (1 week)</a:t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E = Testing and Optimization, Run tests to meet all engineering requirements. (1 week)</a:t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F = Finalization, full demo run, prepare final report and rehearse presentation. (1 week)</a:t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  <a:p>
            <a:pPr indent="-63500" lvl="0" marL="1397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"/>
              <a:t>Total time is 35 days, or 5 weeks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title"/>
          </p:nvPr>
        </p:nvSpPr>
        <p:spPr>
          <a:xfrm>
            <a:off x="802386" y="363474"/>
            <a:ext cx="7543800" cy="1206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Diagram</a:t>
            </a:r>
            <a:endParaRPr/>
          </a:p>
        </p:txBody>
      </p:sp>
      <p:pic>
        <p:nvPicPr>
          <p:cNvPr id="204" name="Google Shape;204;p34" title="Screenshot 2025-10-22 at 1.55.4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675" y="1408400"/>
            <a:ext cx="5043725" cy="349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5"/>
          <p:cNvSpPr txBox="1"/>
          <p:nvPr>
            <p:ph type="title"/>
          </p:nvPr>
        </p:nvSpPr>
        <p:spPr>
          <a:xfrm>
            <a:off x="802386" y="363474"/>
            <a:ext cx="7543800" cy="12070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Font typeface="Rockwell"/>
              <a:buNone/>
            </a:pPr>
            <a:r>
              <a:rPr lang="en"/>
              <a:t>GANTT CHART</a:t>
            </a:r>
            <a:endParaRPr/>
          </a:p>
        </p:txBody>
      </p:sp>
      <p:pic>
        <p:nvPicPr>
          <p:cNvPr id="210" name="Google Shape;21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675" y="1378157"/>
            <a:ext cx="8839204" cy="3103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